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40" d="100"/>
          <a:sy n="140" d="100"/>
        </p:scale>
        <p:origin x="110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18BB2-4C3B-438F-8240-2BDF7C24E8C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757C1-8DF3-4292-A9CB-E0F21F2C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1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以 </a:t>
            </a:r>
            <a:r>
              <a:rPr lang="en-US" altLang="zh-TW" dirty="0"/>
              <a:t>Emperor Pan and tilt </a:t>
            </a:r>
            <a:r>
              <a:rPr lang="zh-TW" altLang="en-US" dirty="0"/>
              <a:t>為例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757C1-8DF3-4292-A9CB-E0F21F2C9F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2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EE173E-9DD6-7C6D-278A-0DA04BA4F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F14F1B-07DB-FB2D-05D8-5613748AC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00491B-48BE-853D-780E-94596B47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89038C-2F54-CAD7-C732-CEE0D215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2C02E7-12B5-315E-A7FC-96DF3D39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64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BD7FE-B1B0-37EF-158A-DA89BE7F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5A9BE7-3EC6-59B8-F133-6C69C4071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DA6B45-A5AB-58A9-92F4-853D2A25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36099B-BC40-9991-6B5F-B204045C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69B69B-986B-9B1D-1A18-3A395419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E7A06-6B54-59AE-995A-FD14B20B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EC7F4A-7853-D720-C8EA-6D6A8B669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65BBEC-89E9-B0FC-1072-F8005CEC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CD6F44-5C22-E9A5-5A78-61CA5964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BBF1B6-69DF-6ECB-BC27-D1BAC274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0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A133F-9ED0-79C9-7C98-B403F262D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2B97D6-6A50-FD7E-A5B0-359E9C4EE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B2C653-C5AA-4D9A-8800-D6EFB2F95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F0741C-8323-8D18-5A7F-7B0DEB78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7FE694-0524-25B1-EBA1-0EE428D7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0C47EA-BCF9-D320-355C-DBC13CA1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5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7E230-CED0-94E7-517E-7A2B0ECF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81ED05-5EF8-730A-FD82-BC03CF8FF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E471E31-E04A-D099-125E-152004811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377ADD-D64C-740D-6C81-463F20832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F822B0-CB0B-F76A-9D9F-715621A2F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B02EC0-1E3C-89BD-2BC9-16E3C185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EE888A-F8A4-7BF0-9C57-64E825B8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C76D5C3-6901-8E1A-7C59-34CCF64C7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8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FD8109-C73E-3828-C8EE-F2865185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D0D35B5-A3BA-64A0-5A40-FB2640AE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046A169-2CB4-3858-E20D-4BC684D5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AB401B-ECF5-8A4E-FCBB-52269F52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7B5D5A9-B1C4-4435-E01C-87DE665D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ADE864-3D1C-C559-DC5D-8BC12CDF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540B90-2BF2-25B8-084E-EF269954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0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3C8E53-C36A-5F36-361F-0C074647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17B752-1471-FF8E-C96E-99FB7960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9D6354-1AB2-88AB-67D9-303E14299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441327-A116-733D-22CD-A0A4D2B9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F9893B-D1A1-1D2B-0D5D-0D23BBA1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046F1F-72C7-AF12-4E98-B0DB2ABF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9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791499-7F28-2CE6-80F1-2134907F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F6793AE-80D4-C7F6-8921-FF8AEFF36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CCE1-4F3B-6889-C903-578B61661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A09808-D336-8D70-D4FB-EC455190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A9EA3D-23C5-CD2B-FB24-87F3CF3D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E91240-9272-562D-E11D-3C0B801E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9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5B4E66-8FF8-2A82-0420-903B8C25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3D75C3-5A5C-DC47-2CFB-1A8FBA1E7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4F78B6-B3AC-06B1-FB9C-A4F5E172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51036-E369-3FD0-734C-91820135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9A65D3-F9FD-405B-F6C6-4A433BE8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C46F544-98F2-211E-385A-E22CBAD34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0CC95E-5B47-044B-3F1E-636F81DAB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E4BCE1-0A7B-43F4-DE9A-98008A6D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C8C29D-2724-564F-FE96-97699593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4BA2AE-F287-6102-F3F4-0B145F48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1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834C41-D1CF-5717-9278-1276DFC9B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12EA00-C289-1544-62C4-1356F8713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A0C3BC-43A0-4BF6-594C-A1A3E9161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2D5DC-9D53-4B30-9677-83E9DEE5AF1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E3B5CD-F850-0802-ACDD-2570B5718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57911C-C100-D2DB-F8F9-DE321C540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2A470-34EB-429A-90E1-8E3B9A74A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5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B9782-0101-D8F1-657B-19E49ECCE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02AEA60-50A0-509A-E850-9D16D3311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3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2073927-5F5F-BD44-A40A-48574601182D}"/>
              </a:ext>
            </a:extLst>
          </p:cNvPr>
          <p:cNvSpPr/>
          <p:nvPr/>
        </p:nvSpPr>
        <p:spPr>
          <a:xfrm>
            <a:off x="185057" y="1149350"/>
            <a:ext cx="1802493" cy="5524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Reliability Testing Dataset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(Test-to-failed data)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0400D9-0F2A-E830-5E8C-88C9C4A13D3B}"/>
              </a:ext>
            </a:extLst>
          </p:cNvPr>
          <p:cNvSpPr/>
          <p:nvPr/>
        </p:nvSpPr>
        <p:spPr>
          <a:xfrm>
            <a:off x="4569937" y="1235849"/>
            <a:ext cx="2273322" cy="5524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Distribution Fitting with MLE method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(Weibull, Lognormal, exponential)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1165F5-5589-6955-951F-0081A05A63CB}"/>
              </a:ext>
            </a:extLst>
          </p:cNvPr>
          <p:cNvSpPr/>
          <p:nvPr/>
        </p:nvSpPr>
        <p:spPr>
          <a:xfrm>
            <a:off x="10307879" y="1281238"/>
            <a:ext cx="1553921" cy="461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MTTF Calculation &amp;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Survival Rate Function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D1B2DF-CA95-AB7F-FFE1-2AC70A354033}"/>
              </a:ext>
            </a:extLst>
          </p:cNvPr>
          <p:cNvSpPr/>
          <p:nvPr/>
        </p:nvSpPr>
        <p:spPr>
          <a:xfrm>
            <a:off x="4590818" y="3801799"/>
            <a:ext cx="2172618" cy="5074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Statistical Model Validation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through K-S test &amp; p-value validation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A59D-E789-B27E-9874-CC15F3A229BE}"/>
              </a:ext>
            </a:extLst>
          </p:cNvPr>
          <p:cNvSpPr/>
          <p:nvPr/>
        </p:nvSpPr>
        <p:spPr>
          <a:xfrm>
            <a:off x="226663" y="3751863"/>
            <a:ext cx="1740133" cy="4508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Uncertainty Quantification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(Bootstrap, Stochastic)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0ACA19-541C-4608-F4D9-931D589803CC}"/>
              </a:ext>
            </a:extLst>
          </p:cNvPr>
          <p:cNvSpPr/>
          <p:nvPr/>
        </p:nvSpPr>
        <p:spPr>
          <a:xfrm>
            <a:off x="10414598" y="3824888"/>
            <a:ext cx="1361336" cy="4508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Technical Report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(Automated Output)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7C8F1C5-C8D5-4D9E-7EBE-26E0FEBC20D2}"/>
              </a:ext>
            </a:extLst>
          </p:cNvPr>
          <p:cNvCxnSpPr>
            <a:cxnSpLocks/>
          </p:cNvCxnSpPr>
          <p:nvPr/>
        </p:nvCxnSpPr>
        <p:spPr>
          <a:xfrm>
            <a:off x="2584450" y="1657350"/>
            <a:ext cx="1466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B60A7CC-8946-0722-D48D-D5541688971A}"/>
              </a:ext>
            </a:extLst>
          </p:cNvPr>
          <p:cNvCxnSpPr>
            <a:cxnSpLocks/>
          </p:cNvCxnSpPr>
          <p:nvPr/>
        </p:nvCxnSpPr>
        <p:spPr>
          <a:xfrm flipV="1">
            <a:off x="7372350" y="1631008"/>
            <a:ext cx="2133600" cy="26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55D1BCB-18D2-6906-F245-F1D42EEF43FA}"/>
              </a:ext>
            </a:extLst>
          </p:cNvPr>
          <p:cNvCxnSpPr>
            <a:cxnSpLocks/>
          </p:cNvCxnSpPr>
          <p:nvPr/>
        </p:nvCxnSpPr>
        <p:spPr>
          <a:xfrm>
            <a:off x="2127250" y="4050313"/>
            <a:ext cx="2283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7BB695D5-B313-28BE-4C93-EF4CE9C32C92}"/>
              </a:ext>
            </a:extLst>
          </p:cNvPr>
          <p:cNvCxnSpPr>
            <a:cxnSpLocks/>
          </p:cNvCxnSpPr>
          <p:nvPr/>
        </p:nvCxnSpPr>
        <p:spPr>
          <a:xfrm>
            <a:off x="7522974" y="4050313"/>
            <a:ext cx="2628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4C6358A-A8B6-22FE-60FF-9315C62996BC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5211675" y="-2131730"/>
            <a:ext cx="1768649" cy="99985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5E1881-6421-69BD-5C28-AC5440B763CA}"/>
              </a:ext>
            </a:extLst>
          </p:cNvPr>
          <p:cNvSpPr txBox="1"/>
          <p:nvPr/>
        </p:nvSpPr>
        <p:spPr>
          <a:xfrm>
            <a:off x="2107560" y="684085"/>
            <a:ext cx="24206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Find the statistical model that best represents actual failure behavior</a:t>
            </a:r>
            <a:endParaRPr lang="en-US" altLang="zh-TW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AI-powered prompting workflow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 generates the fitting program</a:t>
            </a:r>
            <a:r>
              <a:rPr lang="zh-TW" altLang="en-US" sz="900" dirty="0"/>
              <a:t> </a:t>
            </a:r>
            <a:r>
              <a:rPr lang="en-US" altLang="zh-TW" sz="900" dirty="0"/>
              <a:t>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Engineers manually debug and verify it.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549267F-A2B8-43E1-DB0E-837A36594AC3}"/>
              </a:ext>
            </a:extLst>
          </p:cNvPr>
          <p:cNvSpPr txBox="1"/>
          <p:nvPr/>
        </p:nvSpPr>
        <p:spPr>
          <a:xfrm>
            <a:off x="7052596" y="538093"/>
            <a:ext cx="3255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Transform statistical results into lifespan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AI-powered quantify product longevity provides a basis for reliability and warranty strategies.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 automatically substitutes parameters into formulas (such as Weibull: </a:t>
            </a:r>
            <a:r>
              <a:rPr lang="en-US" sz="900" dirty="0" err="1"/>
              <a:t>η×Γ</a:t>
            </a:r>
            <a:r>
              <a:rPr lang="en-US" sz="900" dirty="0"/>
              <a:t>(1+1/β)) and generates textual and graphical explanations.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70BD7B2-26D9-5C8A-E741-CA2E8F7DD923}"/>
              </a:ext>
            </a:extLst>
          </p:cNvPr>
          <p:cNvSpPr txBox="1"/>
          <p:nvPr/>
        </p:nvSpPr>
        <p:spPr>
          <a:xfrm>
            <a:off x="7258155" y="4135156"/>
            <a:ext cx="2893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AI integrates technical report interpreting with charts and parameter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The large language model (LLM) automatically generates descriptions and engineering insights for each figure, ensuring clarity and readability for all users.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D83AA7E-3B5C-04EE-FA32-5C5E0EDFEF93}"/>
              </a:ext>
            </a:extLst>
          </p:cNvPr>
          <p:cNvSpPr txBox="1"/>
          <p:nvPr/>
        </p:nvSpPr>
        <p:spPr>
          <a:xfrm>
            <a:off x="2736850" y="2323506"/>
            <a:ext cx="65502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Estimate the distribution stability and confidence level of the parameters through repeated simulations or sampling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All models have uncertainties, repeated sampling (bootstrap) is used to improve distribution stability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 simulates and builds stochastic models to accelerate computation, automatically outputs confidence level diagrams.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B10C352-7AE6-4B96-B757-AEE88E0CF2BE}"/>
              </a:ext>
            </a:extLst>
          </p:cNvPr>
          <p:cNvSpPr txBox="1"/>
          <p:nvPr/>
        </p:nvSpPr>
        <p:spPr>
          <a:xfrm>
            <a:off x="2153551" y="4135156"/>
            <a:ext cx="22311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b="1" dirty="0"/>
              <a:t>V</a:t>
            </a:r>
            <a:r>
              <a:rPr lang="en-US" sz="900" b="1" dirty="0"/>
              <a:t>erify whether the model truly reflect actual failure behavior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Kolmogorov–Smirnov (K-S) Test: Compares the simulated distribution with actual data.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p-value verification: If p &gt; 0.05, it indicates that there is no significant difference between the model and the measured data, and the model is acceptable.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AI automatically interprets the test results. If the p-value is too low, it generates a warning and suggests an alternative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63152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287</Words>
  <Application>Microsoft Office PowerPoint</Application>
  <PresentationFormat>寬螢幕</PresentationFormat>
  <Paragraphs>31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 </vt:lpstr>
      <vt:lpstr>PowerPoint 簡報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Flora</dc:creator>
  <cp:lastModifiedBy>Liu, Flora</cp:lastModifiedBy>
  <cp:revision>18</cp:revision>
  <dcterms:created xsi:type="dcterms:W3CDTF">2025-10-21T02:16:59Z</dcterms:created>
  <dcterms:modified xsi:type="dcterms:W3CDTF">2025-11-05T05:41:07Z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2025-10-21T02:29:41Z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e2beec55-e6fc-4e30-9a14-2212fa77de30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